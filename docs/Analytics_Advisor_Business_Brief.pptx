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83" r:id="rId2"/>
    <p:sldId id="260" r:id="rId3"/>
    <p:sldId id="272" r:id="rId4"/>
    <p:sldId id="28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5271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svg"/><Relationship Id="rId1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4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16.svg"/><Relationship Id="rId10" Type="http://schemas.openxmlformats.org/officeDocument/2006/relationships/image" Target="../media/image32.svg"/><Relationship Id="rId4" Type="http://schemas.openxmlformats.org/officeDocument/2006/relationships/image" Target="../media/image15.svg"/><Relationship Id="rId9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4500" y="2926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waiting list to an answer the same 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44500" y="786384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Advisor lets a departmental officer ask a data question without writing a script or waiting on a special extract.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6100" y="1219200"/>
            <a:ext cx="4787900" cy="355600"/>
          </a:xfrm>
          <a:prstGeom prst="roundRect">
            <a:avLst>
              <a:gd name="adj" fmla="val 20000"/>
            </a:avLst>
          </a:prstGeom>
          <a:solidFill>
            <a:srgbClr val="9E4A2B"/>
          </a:solidFill>
          <a:ln>
            <a:noFill/>
          </a:ln>
        </p:spPr>
        <p:txBody>
          <a:bodyPr wrap="square" lIns="15240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DEPARTMENT FACES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219200"/>
            <a:ext cx="4787900" cy="355600"/>
          </a:xfrm>
          <a:prstGeom prst="roundRect">
            <a:avLst>
              <a:gd name="adj" fmla="val 20000"/>
            </a:avLst>
          </a:prstGeom>
          <a:solidFill>
            <a:srgbClr val="1F4E5F"/>
          </a:solidFill>
          <a:ln>
            <a:noFill/>
          </a:ln>
        </p:spPr>
        <p:txBody>
          <a:bodyPr wrap="square" lIns="15240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TOOL HELPS</a:t>
            </a:r>
            <a:endParaRPr lang="en-US" sz="1200" dirty="0"/>
          </a:p>
        </p:txBody>
      </p:sp>
      <p:sp>
        <p:nvSpPr>
          <p:cNvPr id="300" name="Row band 300"/>
          <p:cNvSpPr/>
          <p:nvPr/>
        </p:nvSpPr>
        <p:spPr>
          <a:xfrm>
            <a:off x="444500" y="1676400"/>
            <a:ext cx="11303000" cy="15748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546100" y="1778000"/>
            <a:ext cx="47879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04" name="Connector 205"/>
          <p:cNvCxnSpPr/>
          <p:nvPr/>
        </p:nvCxnSpPr>
        <p:spPr>
          <a:xfrm>
            <a:off x="5359400" y="2463800"/>
            <a:ext cx="1447800" cy="0"/>
          </a:xfrm>
          <a:prstGeom prst="line">
            <a:avLst/>
          </a:prstGeom>
          <a:ln w="19050">
            <a:solidFill>
              <a:srgbClr val="5C6B73"/>
            </a:solidFill>
            <a:prstDash val="solid"/>
            <a:tailEnd type="triangle" w="med" len="med"/>
          </a:ln>
        </p:spPr>
      </p:cxnSp>
      <p:sp>
        <p:nvSpPr>
          <p:cNvPr id="7" name="Shape 5"/>
          <p:cNvSpPr/>
          <p:nvPr/>
        </p:nvSpPr>
        <p:spPr>
          <a:xfrm>
            <a:off x="5867400" y="2235200"/>
            <a:ext cx="457200" cy="457200"/>
          </a:xfrm>
          <a:prstGeom prst="ellipse">
            <a:avLst/>
          </a:prstGeom>
          <a:solidFill>
            <a:srgbClr val="1C2B33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867400" y="22860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3" name="Deco 204"/>
          <p:cNvSpPr/>
          <p:nvPr/>
        </p:nvSpPr>
        <p:spPr>
          <a:xfrm>
            <a:off x="749300" y="1930400"/>
            <a:ext cx="457200" cy="457200"/>
          </a:xfrm>
          <a:prstGeom prst="ellipse">
            <a:avLst/>
          </a:prstGeom>
          <a:solidFill>
            <a:srgbClr val="F2DED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9300"/>
            <a:ext cx="279400" cy="279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33500" y="1930400"/>
            <a:ext cx="387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 is a special request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9300" y="2463800"/>
            <a:ext cx="443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scheme or audit question becomes a script, a data job, or a spreadsheet. The same question next month starts from scratch.</a:t>
            </a:r>
            <a:endParaRPr lang="en-US" sz="1300" dirty="0"/>
          </a:p>
        </p:txBody>
      </p:sp>
      <p:sp>
        <p:nvSpPr>
          <p:cNvPr id="301" name="Row band 301"/>
          <p:cNvSpPr/>
          <p:nvPr/>
        </p:nvSpPr>
        <p:spPr>
          <a:xfrm>
            <a:off x="444500" y="3327400"/>
            <a:ext cx="11303000" cy="15748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Shape 9"/>
          <p:cNvSpPr/>
          <p:nvPr/>
        </p:nvSpPr>
        <p:spPr>
          <a:xfrm>
            <a:off x="546100" y="3429000"/>
            <a:ext cx="47879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09" name="Connector 210"/>
          <p:cNvCxnSpPr/>
          <p:nvPr/>
        </p:nvCxnSpPr>
        <p:spPr>
          <a:xfrm>
            <a:off x="5359400" y="4114800"/>
            <a:ext cx="1447800" cy="0"/>
          </a:xfrm>
          <a:prstGeom prst="line">
            <a:avLst/>
          </a:prstGeom>
          <a:ln w="19050">
            <a:solidFill>
              <a:srgbClr val="5C6B73"/>
            </a:solidFill>
            <a:prstDash val="solid"/>
            <a:tailEnd type="triangle" w="med" len="med"/>
          </a:ln>
        </p:spPr>
      </p:cxnSp>
      <p:sp>
        <p:nvSpPr>
          <p:cNvPr id="13" name="Shape 10"/>
          <p:cNvSpPr/>
          <p:nvPr/>
        </p:nvSpPr>
        <p:spPr>
          <a:xfrm>
            <a:off x="5867400" y="3886200"/>
            <a:ext cx="457200" cy="457200"/>
          </a:xfrm>
          <a:prstGeom prst="ellipse">
            <a:avLst/>
          </a:prstGeom>
          <a:solidFill>
            <a:srgbClr val="1C2B33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867400" y="39370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8" name="Deco 209"/>
          <p:cNvSpPr/>
          <p:nvPr/>
        </p:nvSpPr>
        <p:spPr>
          <a:xfrm>
            <a:off x="749300" y="3581400"/>
            <a:ext cx="457200" cy="457200"/>
          </a:xfrm>
          <a:prstGeom prst="ellipse">
            <a:avLst/>
          </a:prstGeom>
          <a:solidFill>
            <a:srgbClr val="F2DED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670300"/>
            <a:ext cx="279400" cy="2794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33500" y="3581400"/>
            <a:ext cx="387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person, three spellings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749300" y="4114800"/>
            <a:ext cx="443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Beneficiary, bank, and transaction files do not share one clean key. Staff reconcile names by hand and still miss matches.</a:t>
            </a:r>
            <a:endParaRPr lang="en-US" sz="1300" dirty="0"/>
          </a:p>
        </p:txBody>
      </p:sp>
      <p:sp>
        <p:nvSpPr>
          <p:cNvPr id="302" name="Row band 302"/>
          <p:cNvSpPr/>
          <p:nvPr/>
        </p:nvSpPr>
        <p:spPr>
          <a:xfrm>
            <a:off x="444500" y="4978400"/>
            <a:ext cx="11303000" cy="15748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18" name="Shape 14"/>
          <p:cNvSpPr/>
          <p:nvPr/>
        </p:nvSpPr>
        <p:spPr>
          <a:xfrm>
            <a:off x="546100" y="5080000"/>
            <a:ext cx="47879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14" name="Connector 215"/>
          <p:cNvCxnSpPr/>
          <p:nvPr/>
        </p:nvCxnSpPr>
        <p:spPr>
          <a:xfrm>
            <a:off x="5359400" y="5765800"/>
            <a:ext cx="1447800" cy="0"/>
          </a:xfrm>
          <a:prstGeom prst="line">
            <a:avLst/>
          </a:prstGeom>
          <a:ln w="19050">
            <a:solidFill>
              <a:srgbClr val="5C6B73"/>
            </a:solidFill>
            <a:prstDash val="solid"/>
            <a:tailEnd type="triangle" w="med" len="med"/>
          </a:ln>
        </p:spPr>
      </p:cxnSp>
      <p:sp>
        <p:nvSpPr>
          <p:cNvPr id="19" name="Shape 15"/>
          <p:cNvSpPr/>
          <p:nvPr/>
        </p:nvSpPr>
        <p:spPr>
          <a:xfrm>
            <a:off x="5867400" y="5537200"/>
            <a:ext cx="457200" cy="457200"/>
          </a:xfrm>
          <a:prstGeom prst="ellipse">
            <a:avLst/>
          </a:prstGeom>
          <a:solidFill>
            <a:srgbClr val="1C2B33"/>
          </a:solidFill>
          <a:ln w="381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867400" y="5588000"/>
            <a:ext cx="45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3" name="Deco 214"/>
          <p:cNvSpPr/>
          <p:nvPr/>
        </p:nvSpPr>
        <p:spPr>
          <a:xfrm>
            <a:off x="749300" y="5232400"/>
            <a:ext cx="457200" cy="457200"/>
          </a:xfrm>
          <a:prstGeom prst="ellipse">
            <a:avLst/>
          </a:prstGeom>
          <a:solidFill>
            <a:srgbClr val="F2DED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321300"/>
            <a:ext cx="279400" cy="2794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33500" y="5232400"/>
            <a:ext cx="387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data, too little control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49300" y="5765800"/>
            <a:ext cx="443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office can be handed another district’s people. There is no reliable record of who ran the question or who downloaded the file.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0" y="1778000"/>
            <a:ext cx="4787900" cy="1371600"/>
          </a:xfrm>
          <a:prstGeom prst="roundRect">
            <a:avLst>
              <a:gd name="adj" fmla="val 6000"/>
            </a:avLst>
          </a:prstGeom>
          <a:solidFill>
            <a:srgbClr val="1F4E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6" name="Deco 207"/>
          <p:cNvSpPr/>
          <p:nvPr/>
        </p:nvSpPr>
        <p:spPr>
          <a:xfrm>
            <a:off x="7061200" y="19304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100" y="2019300"/>
            <a:ext cx="279400" cy="2794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45400" y="1930400"/>
            <a:ext cx="387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ask it themselves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7061200" y="2463800"/>
            <a:ext cx="443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pick the tables, the columns, and the rule, preview the question, and run it. A routine list no longer waits on a technical team.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858000" y="3429000"/>
            <a:ext cx="4787900" cy="1371600"/>
          </a:xfrm>
          <a:prstGeom prst="roundRect">
            <a:avLst>
              <a:gd name="adj" fmla="val 6000"/>
            </a:avLst>
          </a:prstGeom>
          <a:solidFill>
            <a:srgbClr val="1F4E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Deco 212"/>
          <p:cNvSpPr/>
          <p:nvPr/>
        </p:nvSpPr>
        <p:spPr>
          <a:xfrm>
            <a:off x="7061200" y="35814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100" y="3670300"/>
            <a:ext cx="279400" cy="2794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645400" y="3581400"/>
            <a:ext cx="387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lined up for them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061200" y="4114800"/>
            <a:ext cx="443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identifiers line up automatically. When spellings differ, an approximate name match is available, and the officer sets how close is close enough.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6858000" y="5080000"/>
            <a:ext cx="4787900" cy="1371600"/>
          </a:xfrm>
          <a:prstGeom prst="roundRect">
            <a:avLst>
              <a:gd name="adj" fmla="val 6000"/>
            </a:avLst>
          </a:prstGeom>
          <a:solidFill>
            <a:srgbClr val="1F4E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Deco 217"/>
          <p:cNvSpPr/>
          <p:nvPr/>
        </p:nvSpPr>
        <p:spPr>
          <a:xfrm>
            <a:off x="7061200" y="52324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100" y="5321300"/>
            <a:ext cx="279400" cy="2794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645400" y="5232400"/>
            <a:ext cx="387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sees only their area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7061200" y="5765800"/>
            <a:ext cx="4432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and taluka limits are applied to every result and every download. Runs, exports, and access changes are written to an audit log.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63120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officer can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capabilities, already in the product. English and Hindi.</a:t>
            </a:r>
            <a:endParaRPr lang="en-US" sz="1500" dirty="0"/>
          </a:p>
        </p:txBody>
      </p:sp>
      <p:sp>
        <p:nvSpPr>
          <p:cNvPr id="200" name="Deco 201"/>
          <p:cNvSpPr txBox="1"/>
          <p:nvPr/>
        </p:nvSpPr>
        <p:spPr>
          <a:xfrm>
            <a:off x="457200" y="1168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l">
              <a:buNone/>
            </a:pPr>
            <a:r>
              <a:rPr lang="en-GB" sz="1200" b="1" kern="0" spc="120" dirty="0">
                <a:solidFill>
                  <a:srgbClr val="1F4E5F"/>
                </a:solidFill>
                <a:latin typeface="Calibri" pitchFamily="34" charset="0"/>
              </a:rPr>
              <a:t>AN OFFICER’S QUESTION, START TO FINISH</a:t>
            </a:r>
          </a:p>
        </p:txBody>
      </p:sp>
      <p:cxnSp>
        <p:nvCxnSpPr>
          <p:cNvPr id="201" name="Connector 202"/>
          <p:cNvCxnSpPr/>
          <p:nvPr/>
        </p:nvCxnSpPr>
        <p:spPr>
          <a:xfrm>
            <a:off x="1397000" y="1854200"/>
            <a:ext cx="9525000" cy="0"/>
          </a:xfrm>
          <a:prstGeom prst="line">
            <a:avLst/>
          </a:prstGeom>
          <a:ln w="25400">
            <a:solidFill>
              <a:srgbClr val="B9C7CC"/>
            </a:solidFill>
            <a:tailEnd type="triangle" w="med" len="med"/>
          </a:ln>
        </p:spPr>
      </p:cxnSp>
      <p:sp>
        <p:nvSpPr>
          <p:cNvPr id="5" name="Shape 3"/>
          <p:cNvSpPr/>
          <p:nvPr/>
        </p:nvSpPr>
        <p:spPr>
          <a:xfrm>
            <a:off x="1054100" y="15113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1701800"/>
            <a:ext cx="304800" cy="304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69900" y="23622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data first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3400" y="2870200"/>
            <a:ext cx="172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what is available by source, layer, and table before asking a question.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33700" y="15113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1701800"/>
            <a:ext cx="304800" cy="304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49500" y="23622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without code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413000" y="2870200"/>
            <a:ext cx="172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from one table, or match two or more sources, in the Query Builder.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3300" y="15113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800" y="1701800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29100" y="23622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rule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292600" y="2870200"/>
            <a:ext cx="172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age, income, district, or a list of values. Match names approximately.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692900" y="15113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400" y="1701800"/>
            <a:ext cx="304800" cy="3048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08700" y="23622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result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172200" y="2870200"/>
            <a:ext cx="172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count, compare columns after the match, and keep only the rows that disagree.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572500" y="15113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1701800"/>
            <a:ext cx="304800" cy="3048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988300" y="23622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full list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8051800" y="2870200"/>
            <a:ext cx="172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page, and choose columns on screen. Download Excel, CSV, JSON, or XML.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452100" y="15113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2600" y="1701800"/>
            <a:ext cx="304800" cy="3048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867900" y="23622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question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9931400" y="2870200"/>
            <a:ext cx="17272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 a saved question instead of rebuilding the same match next month.</a:t>
            </a:r>
            <a:endParaRPr lang="en-US" sz="1300" dirty="0"/>
          </a:p>
        </p:txBody>
      </p:sp>
      <p:sp>
        <p:nvSpPr>
          <p:cNvPr id="208" name="Deco 209"/>
          <p:cNvSpPr txBox="1"/>
          <p:nvPr/>
        </p:nvSpPr>
        <p:spPr>
          <a:xfrm>
            <a:off x="457200" y="452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marL="0" indent="0" algn="l">
              <a:buNone/>
            </a:pPr>
            <a:r>
              <a:rPr lang="en-GB" sz="1200" b="1" kern="0" spc="120" dirty="0">
                <a:solidFill>
                  <a:srgbClr val="1F4E5F"/>
                </a:solidFill>
                <a:latin typeface="Calibri" pitchFamily="34" charset="0"/>
              </a:rPr>
              <a:t>CONTROLS BEHIND EVERY QUESTION</a:t>
            </a:r>
          </a:p>
        </p:txBody>
      </p:sp>
      <p:sp>
        <p:nvSpPr>
          <p:cNvPr id="34" name="Shape 26"/>
          <p:cNvSpPr/>
          <p:nvPr/>
        </p:nvSpPr>
        <p:spPr>
          <a:xfrm>
            <a:off x="457200" y="4826000"/>
            <a:ext cx="11277600" cy="1422400"/>
          </a:xfrm>
          <a:prstGeom prst="rect">
            <a:avLst/>
          </a:prstGeom>
          <a:solidFill>
            <a:srgbClr val="F4F7F8"/>
          </a:solidFill>
          <a:ln/>
          <a:effectLst>
            <a:outerShdw blurRad="127000" dist="25400" dir="5400000" algn="bl" rotWithShape="0">
              <a:srgbClr val="1C2B33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9" name="Deco 210"/>
          <p:cNvSpPr/>
          <p:nvPr/>
        </p:nvSpPr>
        <p:spPr>
          <a:xfrm>
            <a:off x="457200" y="4826000"/>
            <a:ext cx="11277600" cy="5080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txBody>
          <a:bodyPr wrap="none" lIns="0" tIns="0" rIns="0" bIns="0" anchor="ctr"/>
          <a:lstStyle/>
          <a:p>
            <a:endParaRPr lang="en-GB"/>
          </a:p>
        </p:txBody>
      </p:sp>
      <p:cxnSp>
        <p:nvCxnSpPr>
          <p:cNvPr id="210" name="Connector 211"/>
          <p:cNvCxnSpPr/>
          <p:nvPr/>
        </p:nvCxnSpPr>
        <p:spPr>
          <a:xfrm>
            <a:off x="6096000" y="5130800"/>
            <a:ext cx="0" cy="914400"/>
          </a:xfrm>
          <a:prstGeom prst="line">
            <a:avLst/>
          </a:prstGeom>
          <a:ln w="12700">
            <a:solidFill>
              <a:srgbClr val="D3DDE0"/>
            </a:solidFill>
          </a:ln>
        </p:spPr>
      </p:cxnSp>
      <p:sp>
        <p:nvSpPr>
          <p:cNvPr id="35" name="Shape 27"/>
          <p:cNvSpPr/>
          <p:nvPr/>
        </p:nvSpPr>
        <p:spPr>
          <a:xfrm>
            <a:off x="762000" y="52070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5397500"/>
            <a:ext cx="304800" cy="3048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676400" y="51562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who sees what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676400" y="5537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Admin, Admin, Officer, and Audit reader. Place limits apply to every row returned.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6400800" y="5207000"/>
            <a:ext cx="685800" cy="685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5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5397500"/>
            <a:ext cx="304800" cy="3048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315200" y="5156200"/>
            <a:ext cx="431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department files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7315200" y="5537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PostgreSQL, DB2, MySQL, SQL Server, or Oracle. Register only the tables officers may use.</a:t>
            </a:r>
            <a:endParaRPr lang="en-US" sz="1300" dirty="0"/>
          </a:p>
        </p:txBody>
      </p:sp>
      <p:sp>
        <p:nvSpPr>
          <p:cNvPr id="202" name="Deco 203"/>
          <p:cNvSpPr/>
          <p:nvPr/>
        </p:nvSpPr>
        <p:spPr>
          <a:xfrm>
            <a:off x="1562100" y="1447800"/>
            <a:ext cx="254000" cy="254000"/>
          </a:xfrm>
          <a:prstGeom prst="ellipse">
            <a:avLst/>
          </a:prstGeom>
          <a:solidFill>
            <a:srgbClr val="1F4E5F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GB" sz="1000" b="1" kern="0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03" name="Deco 204"/>
          <p:cNvSpPr/>
          <p:nvPr/>
        </p:nvSpPr>
        <p:spPr>
          <a:xfrm>
            <a:off x="3441700" y="1447800"/>
            <a:ext cx="254000" cy="254000"/>
          </a:xfrm>
          <a:prstGeom prst="ellipse">
            <a:avLst/>
          </a:prstGeom>
          <a:solidFill>
            <a:srgbClr val="1F4E5F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GB" sz="1000" b="1" kern="0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04" name="Deco 205"/>
          <p:cNvSpPr/>
          <p:nvPr/>
        </p:nvSpPr>
        <p:spPr>
          <a:xfrm>
            <a:off x="5321300" y="1447800"/>
            <a:ext cx="254000" cy="254000"/>
          </a:xfrm>
          <a:prstGeom prst="ellipse">
            <a:avLst/>
          </a:prstGeom>
          <a:solidFill>
            <a:srgbClr val="1F4E5F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GB" sz="1000" b="1" kern="0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205" name="Deco 206"/>
          <p:cNvSpPr/>
          <p:nvPr/>
        </p:nvSpPr>
        <p:spPr>
          <a:xfrm>
            <a:off x="7200900" y="1447800"/>
            <a:ext cx="254000" cy="254000"/>
          </a:xfrm>
          <a:prstGeom prst="ellipse">
            <a:avLst/>
          </a:prstGeom>
          <a:solidFill>
            <a:srgbClr val="1F4E5F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GB" sz="1000" b="1" kern="0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206" name="Deco 207"/>
          <p:cNvSpPr/>
          <p:nvPr/>
        </p:nvSpPr>
        <p:spPr>
          <a:xfrm>
            <a:off x="9080500" y="1447800"/>
            <a:ext cx="254000" cy="254000"/>
          </a:xfrm>
          <a:prstGeom prst="ellipse">
            <a:avLst/>
          </a:prstGeom>
          <a:solidFill>
            <a:srgbClr val="1F4E5F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GB" sz="1000" b="1" kern="0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207" name="Deco 208"/>
          <p:cNvSpPr/>
          <p:nvPr/>
        </p:nvSpPr>
        <p:spPr>
          <a:xfrm>
            <a:off x="10960100" y="1447800"/>
            <a:ext cx="254000" cy="254000"/>
          </a:xfrm>
          <a:prstGeom prst="ellipse">
            <a:avLst/>
          </a:prstGeom>
          <a:solidFill>
            <a:srgbClr val="1F4E5F"/>
          </a:solidFill>
          <a:ln w="19050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marL="0" indent="0" algn="ctr">
              <a:buNone/>
            </a:pPr>
            <a:r>
              <a:rPr lang="en-GB" sz="1000" b="1" kern="0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3386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layers. Officers stay in the browser. Matching and counting run in the database engine.</a:t>
            </a:r>
            <a:endParaRPr lang="en-US" sz="1500" dirty="0"/>
          </a:p>
        </p:txBody>
      </p:sp>
      <p:sp>
        <p:nvSpPr>
          <p:cNvPr id="100" name="Shape 100"/>
          <p:cNvSpPr/>
          <p:nvPr/>
        </p:nvSpPr>
        <p:spPr>
          <a:xfrm>
            <a:off x="444500" y="1117600"/>
            <a:ext cx="11303000" cy="1143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1" name="Shape 101"/>
          <p:cNvSpPr/>
          <p:nvPr/>
        </p:nvSpPr>
        <p:spPr>
          <a:xfrm>
            <a:off x="444500" y="1117600"/>
            <a:ext cx="2540000" cy="1143000"/>
          </a:xfrm>
          <a:prstGeom prst="roundRect">
            <a:avLst>
              <a:gd name="adj" fmla="val 8000"/>
            </a:avLst>
          </a:prstGeom>
          <a:solidFill>
            <a:srgbClr val="1C2B3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2" name="Shape 102"/>
          <p:cNvSpPr/>
          <p:nvPr/>
        </p:nvSpPr>
        <p:spPr>
          <a:xfrm rot="5400000">
            <a:off x="2933700" y="1638300"/>
            <a:ext cx="203200" cy="101600"/>
          </a:xfrm>
          <a:prstGeom prst="triangle">
            <a:avLst/>
          </a:prstGeom>
          <a:solidFill>
            <a:srgbClr val="1C2B3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3" name="Text 103"/>
          <p:cNvSpPr/>
          <p:nvPr/>
        </p:nvSpPr>
        <p:spPr>
          <a:xfrm>
            <a:off x="596900" y="12446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96900" y="1600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workspace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596900" y="1892300"/>
            <a:ext cx="228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Next.js</a:t>
            </a:r>
          </a:p>
        </p:txBody>
      </p:sp>
      <p:sp>
        <p:nvSpPr>
          <p:cNvPr id="106" name="Shape 106"/>
          <p:cNvSpPr/>
          <p:nvPr/>
        </p:nvSpPr>
        <p:spPr>
          <a:xfrm flipV="1">
            <a:off x="1600200" y="2273300"/>
            <a:ext cx="228600" cy="101600"/>
          </a:xfrm>
          <a:prstGeom prst="triangle">
            <a:avLst/>
          </a:prstGeom>
          <a:solidFill>
            <a:srgbClr val="5C6B7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7" name="Shape 107"/>
          <p:cNvSpPr/>
          <p:nvPr/>
        </p:nvSpPr>
        <p:spPr>
          <a:xfrm>
            <a:off x="32131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8" name="Text 108"/>
          <p:cNvSpPr txBox="1"/>
          <p:nvPr/>
        </p:nvSpPr>
        <p:spPr>
          <a:xfrm>
            <a:off x="32893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</a:p>
        </p:txBody>
      </p:sp>
      <p:sp>
        <p:nvSpPr>
          <p:cNvPr id="109" name="Shape 109"/>
          <p:cNvSpPr/>
          <p:nvPr/>
        </p:nvSpPr>
        <p:spPr>
          <a:xfrm>
            <a:off x="49149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0" name="Text 110"/>
          <p:cNvSpPr txBox="1"/>
          <p:nvPr/>
        </p:nvSpPr>
        <p:spPr>
          <a:xfrm>
            <a:off x="49911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tables</a:t>
            </a:r>
          </a:p>
        </p:txBody>
      </p:sp>
      <p:sp>
        <p:nvSpPr>
          <p:cNvPr id="111" name="Shape 111"/>
          <p:cNvSpPr/>
          <p:nvPr/>
        </p:nvSpPr>
        <p:spPr>
          <a:xfrm>
            <a:off x="66167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2" name="Text 112"/>
          <p:cNvSpPr txBox="1"/>
          <p:nvPr/>
        </p:nvSpPr>
        <p:spPr>
          <a:xfrm>
            <a:off x="66929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Builder</a:t>
            </a:r>
          </a:p>
        </p:txBody>
      </p:sp>
      <p:sp>
        <p:nvSpPr>
          <p:cNvPr id="113" name="Shape 113"/>
          <p:cNvSpPr/>
          <p:nvPr/>
        </p:nvSpPr>
        <p:spPr>
          <a:xfrm>
            <a:off x="83185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4" name="Text 114"/>
          <p:cNvSpPr txBox="1"/>
          <p:nvPr/>
        </p:nvSpPr>
        <p:spPr>
          <a:xfrm>
            <a:off x="83947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</a:p>
        </p:txBody>
      </p:sp>
      <p:sp>
        <p:nvSpPr>
          <p:cNvPr id="115" name="Shape 115"/>
          <p:cNvSpPr/>
          <p:nvPr/>
        </p:nvSpPr>
        <p:spPr>
          <a:xfrm>
            <a:off x="10020300" y="1219200"/>
            <a:ext cx="1574800" cy="939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6" name="Text 116"/>
          <p:cNvSpPr txBox="1"/>
          <p:nvPr/>
        </p:nvSpPr>
        <p:spPr>
          <a:xfrm>
            <a:off x="10096500" y="1778000"/>
            <a:ext cx="142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</a:p>
        </p:txBody>
      </p:sp>
      <p:sp>
        <p:nvSpPr>
          <p:cNvPr id="117" name="Shape 117"/>
          <p:cNvSpPr/>
          <p:nvPr/>
        </p:nvSpPr>
        <p:spPr>
          <a:xfrm>
            <a:off x="444500" y="2387600"/>
            <a:ext cx="11303000" cy="12192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8" name="Shape 118"/>
          <p:cNvSpPr/>
          <p:nvPr/>
        </p:nvSpPr>
        <p:spPr>
          <a:xfrm>
            <a:off x="444500" y="2387600"/>
            <a:ext cx="2540000" cy="1219200"/>
          </a:xfrm>
          <a:prstGeom prst="roundRect">
            <a:avLst>
              <a:gd name="adj" fmla="val 8000"/>
            </a:avLst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9" name="Shape 119"/>
          <p:cNvSpPr/>
          <p:nvPr/>
        </p:nvSpPr>
        <p:spPr>
          <a:xfrm rot="5400000">
            <a:off x="2933700" y="2946400"/>
            <a:ext cx="203200" cy="101600"/>
          </a:xfrm>
          <a:prstGeom prst="triangl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0" name="Text 120"/>
          <p:cNvSpPr/>
          <p:nvPr/>
        </p:nvSpPr>
        <p:spPr>
          <a:xfrm>
            <a:off x="596900" y="25146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596900" y="28702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596900" y="31623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 ·  Spring Boot</a:t>
            </a:r>
          </a:p>
        </p:txBody>
      </p:sp>
      <p:sp>
        <p:nvSpPr>
          <p:cNvPr id="123" name="Shape 123"/>
          <p:cNvSpPr/>
          <p:nvPr/>
        </p:nvSpPr>
        <p:spPr>
          <a:xfrm flipV="1">
            <a:off x="1600200" y="3619500"/>
            <a:ext cx="228600" cy="101600"/>
          </a:xfrm>
          <a:prstGeom prst="triangle">
            <a:avLst/>
          </a:prstGeom>
          <a:solidFill>
            <a:srgbClr val="5C6B7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4" name="Shape 124"/>
          <p:cNvSpPr/>
          <p:nvPr/>
        </p:nvSpPr>
        <p:spPr>
          <a:xfrm>
            <a:off x="321310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5" name="Text 125"/>
          <p:cNvSpPr txBox="1"/>
          <p:nvPr/>
        </p:nvSpPr>
        <p:spPr>
          <a:xfrm>
            <a:off x="372110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334010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session</a:t>
            </a:r>
          </a:p>
        </p:txBody>
      </p:sp>
      <p:sp>
        <p:nvSpPr>
          <p:cNvPr id="127" name="Shape 127"/>
          <p:cNvSpPr/>
          <p:nvPr/>
        </p:nvSpPr>
        <p:spPr>
          <a:xfrm>
            <a:off x="534035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8" name="Text 128"/>
          <p:cNvSpPr txBox="1"/>
          <p:nvPr/>
        </p:nvSpPr>
        <p:spPr>
          <a:xfrm>
            <a:off x="584835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546735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and taluka on every request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746760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1" name="Text 131"/>
          <p:cNvSpPr txBox="1"/>
          <p:nvPr/>
        </p:nvSpPr>
        <p:spPr>
          <a:xfrm>
            <a:off x="797560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759460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become parameterised SQL</a:t>
            </a:r>
          </a:p>
        </p:txBody>
      </p:sp>
      <p:sp>
        <p:nvSpPr>
          <p:cNvPr id="133" name="Shape 133"/>
          <p:cNvSpPr/>
          <p:nvPr/>
        </p:nvSpPr>
        <p:spPr>
          <a:xfrm>
            <a:off x="9594850" y="2489200"/>
            <a:ext cx="200025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4" name="Text 134"/>
          <p:cNvSpPr txBox="1"/>
          <p:nvPr/>
        </p:nvSpPr>
        <p:spPr>
          <a:xfrm>
            <a:off x="10102850" y="2616200"/>
            <a:ext cx="136525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9721850" y="2971800"/>
            <a:ext cx="1746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downloads, and access changes</a:t>
            </a:r>
          </a:p>
        </p:txBody>
      </p:sp>
      <p:sp>
        <p:nvSpPr>
          <p:cNvPr id="136" name="Shape 136"/>
          <p:cNvSpPr/>
          <p:nvPr/>
        </p:nvSpPr>
        <p:spPr>
          <a:xfrm>
            <a:off x="444500" y="3733800"/>
            <a:ext cx="11303000" cy="12192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7" name="Shape 137"/>
          <p:cNvSpPr/>
          <p:nvPr/>
        </p:nvSpPr>
        <p:spPr>
          <a:xfrm>
            <a:off x="444500" y="3733800"/>
            <a:ext cx="2540000" cy="1219200"/>
          </a:xfrm>
          <a:prstGeom prst="roundRect">
            <a:avLst>
              <a:gd name="adj" fmla="val 8000"/>
            </a:avLst>
          </a:prstGeom>
          <a:solidFill>
            <a:srgbClr val="2D657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8" name="Shape 138"/>
          <p:cNvSpPr/>
          <p:nvPr/>
        </p:nvSpPr>
        <p:spPr>
          <a:xfrm rot="5400000">
            <a:off x="2933700" y="4292600"/>
            <a:ext cx="203200" cy="101600"/>
          </a:xfrm>
          <a:prstGeom prst="triangle">
            <a:avLst/>
          </a:prstGeom>
          <a:solidFill>
            <a:srgbClr val="2D6577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9" name="Text 139"/>
          <p:cNvSpPr/>
          <p:nvPr/>
        </p:nvSpPr>
        <p:spPr>
          <a:xfrm>
            <a:off x="596900" y="38608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2D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596900" y="42164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</a:p>
        </p:txBody>
      </p:sp>
      <p:sp>
        <p:nvSpPr>
          <p:cNvPr id="141" name="Text 141"/>
          <p:cNvSpPr txBox="1"/>
          <p:nvPr/>
        </p:nvSpPr>
        <p:spPr>
          <a:xfrm>
            <a:off x="596900" y="4508500"/>
            <a:ext cx="2286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per question, before it runs</a:t>
            </a:r>
          </a:p>
        </p:txBody>
      </p:sp>
      <p:sp>
        <p:nvSpPr>
          <p:cNvPr id="142" name="Shape 142"/>
          <p:cNvSpPr/>
          <p:nvPr/>
        </p:nvSpPr>
        <p:spPr>
          <a:xfrm flipV="1">
            <a:off x="1600200" y="4965700"/>
            <a:ext cx="228600" cy="101600"/>
          </a:xfrm>
          <a:prstGeom prst="triangle">
            <a:avLst/>
          </a:prstGeom>
          <a:solidFill>
            <a:srgbClr val="5C6B73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43" name="Shape 143"/>
          <p:cNvSpPr/>
          <p:nvPr/>
        </p:nvSpPr>
        <p:spPr>
          <a:xfrm>
            <a:off x="3213100" y="3835400"/>
            <a:ext cx="4127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44" name="Text 144"/>
          <p:cNvSpPr txBox="1"/>
          <p:nvPr/>
        </p:nvSpPr>
        <p:spPr>
          <a:xfrm>
            <a:off x="3721100" y="3962400"/>
            <a:ext cx="3492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database</a:t>
            </a:r>
          </a:p>
        </p:txBody>
      </p:sp>
      <p:sp>
        <p:nvSpPr>
          <p:cNvPr id="145" name="Text 145"/>
          <p:cNvSpPr txBox="1"/>
          <p:nvPr/>
        </p:nvSpPr>
        <p:spPr>
          <a:xfrm>
            <a:off x="3340100" y="4318000"/>
            <a:ext cx="3873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filters use the saved read-only JDBC connection. The SQL is adapted to that database.</a:t>
            </a:r>
          </a:p>
        </p:txBody>
      </p:sp>
      <p:sp>
        <p:nvSpPr>
          <p:cNvPr id="146" name="Shape 146"/>
          <p:cNvSpPr/>
          <p:nvPr/>
        </p:nvSpPr>
        <p:spPr>
          <a:xfrm>
            <a:off x="7467600" y="3835400"/>
            <a:ext cx="41275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47" name="Text 147"/>
          <p:cNvSpPr txBox="1"/>
          <p:nvPr/>
        </p:nvSpPr>
        <p:spPr>
          <a:xfrm>
            <a:off x="7975600" y="3962400"/>
            <a:ext cx="3492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Lakehouse, mixed sources, or approximate names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94600" y="4318000"/>
            <a:ext cx="3873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PrestoDB. Refused when a mix has no catalog alias, or when the estimated result is too large.</a:t>
            </a:r>
          </a:p>
        </p:txBody>
      </p:sp>
      <p:sp>
        <p:nvSpPr>
          <p:cNvPr id="149" name="Shape 149"/>
          <p:cNvSpPr/>
          <p:nvPr/>
        </p:nvSpPr>
        <p:spPr>
          <a:xfrm>
            <a:off x="444500" y="5080000"/>
            <a:ext cx="11303000" cy="1524000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0" name="Shape 150"/>
          <p:cNvSpPr/>
          <p:nvPr/>
        </p:nvSpPr>
        <p:spPr>
          <a:xfrm>
            <a:off x="444500" y="5080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9E4A2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1" name="Shape 151"/>
          <p:cNvSpPr/>
          <p:nvPr/>
        </p:nvSpPr>
        <p:spPr>
          <a:xfrm rot="5400000">
            <a:off x="2933700" y="5791200"/>
            <a:ext cx="203200" cy="101600"/>
          </a:xfrm>
          <a:prstGeom prst="triangle">
            <a:avLst/>
          </a:prstGeom>
          <a:solidFill>
            <a:srgbClr val="9E4A2B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2" name="Text 152"/>
          <p:cNvSpPr/>
          <p:nvPr/>
        </p:nvSpPr>
        <p:spPr>
          <a:xfrm>
            <a:off x="596900" y="52070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300" b="1" dirty="0">
                <a:solidFill>
                  <a:srgbClr val="9E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596900" y="5562600"/>
            <a:ext cx="228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lives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596900" y="58547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query registered tables, not connection strings</a:t>
            </a:r>
          </a:p>
        </p:txBody>
      </p:sp>
      <p:sp>
        <p:nvSpPr>
          <p:cNvPr id="155" name="Shape 155"/>
          <p:cNvSpPr/>
          <p:nvPr/>
        </p:nvSpPr>
        <p:spPr>
          <a:xfrm>
            <a:off x="3213100" y="5181600"/>
            <a:ext cx="2709333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6" name="Text 156"/>
          <p:cNvSpPr txBox="1"/>
          <p:nvPr/>
        </p:nvSpPr>
        <p:spPr>
          <a:xfrm>
            <a:off x="3721100" y="5308600"/>
            <a:ext cx="2074333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database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3340100" y="5664200"/>
            <a:ext cx="245533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by default, DB2 supported. Users, scopes, saved questions, audit, and the table registry.</a:t>
            </a:r>
          </a:p>
        </p:txBody>
      </p:sp>
      <p:sp>
        <p:nvSpPr>
          <p:cNvPr id="158" name="Shape 158"/>
          <p:cNvSpPr/>
          <p:nvPr/>
        </p:nvSpPr>
        <p:spPr>
          <a:xfrm>
            <a:off x="6049433" y="5181600"/>
            <a:ext cx="2709333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59" name="Text 159"/>
          <p:cNvSpPr txBox="1"/>
          <p:nvPr/>
        </p:nvSpPr>
        <p:spPr>
          <a:xfrm>
            <a:off x="6557433" y="5308600"/>
            <a:ext cx="2074333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6176433" y="5664200"/>
            <a:ext cx="245533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tables through Presto. Joins, filters, and counts stay in the engine.</a:t>
            </a:r>
          </a:p>
        </p:txBody>
      </p:sp>
      <p:sp>
        <p:nvSpPr>
          <p:cNvPr id="161" name="Shape 161"/>
          <p:cNvSpPr/>
          <p:nvPr/>
        </p:nvSpPr>
        <p:spPr>
          <a:xfrm>
            <a:off x="8885767" y="5181600"/>
            <a:ext cx="2709333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62" name="Text 162"/>
          <p:cNvSpPr txBox="1"/>
          <p:nvPr/>
        </p:nvSpPr>
        <p:spPr>
          <a:xfrm>
            <a:off x="9393767" y="5308600"/>
            <a:ext cx="2074333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3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databases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012767" y="5664200"/>
            <a:ext cx="2455333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2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DB2, MySQL, MariaDB, SQL Server, and Oracle. Read-only. Password stays on the server.</a:t>
            </a:r>
          </a:p>
        </p:txBody>
      </p:sp>
      <p:pic>
        <p:nvPicPr>
          <p:cNvPr id="164" name="Graphic 16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2700" y="1346200"/>
            <a:ext cx="355600" cy="355600"/>
          </a:xfrm>
          <a:prstGeom prst="rect">
            <a:avLst/>
          </a:prstGeom>
        </p:spPr>
      </p:pic>
      <p:pic>
        <p:nvPicPr>
          <p:cNvPr id="165" name="Graphic 1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4500" y="1346200"/>
            <a:ext cx="355600" cy="355600"/>
          </a:xfrm>
          <a:prstGeom prst="rect">
            <a:avLst/>
          </a:prstGeom>
        </p:spPr>
      </p:pic>
      <p:pic>
        <p:nvPicPr>
          <p:cNvPr id="166" name="Graphic 16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6300" y="1346200"/>
            <a:ext cx="355600" cy="355600"/>
          </a:xfrm>
          <a:prstGeom prst="rect">
            <a:avLst/>
          </a:prstGeom>
        </p:spPr>
      </p:pic>
      <p:pic>
        <p:nvPicPr>
          <p:cNvPr id="167" name="Graphic 16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8100" y="1346200"/>
            <a:ext cx="355600" cy="355600"/>
          </a:xfrm>
          <a:prstGeom prst="rect">
            <a:avLst/>
          </a:prstGeom>
        </p:spPr>
      </p:pic>
      <p:pic>
        <p:nvPicPr>
          <p:cNvPr id="168" name="Graphic 1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29900" y="1346200"/>
            <a:ext cx="355600" cy="355600"/>
          </a:xfrm>
          <a:prstGeom prst="rect">
            <a:avLst/>
          </a:prstGeom>
        </p:spPr>
      </p:pic>
      <p:pic>
        <p:nvPicPr>
          <p:cNvPr id="169" name="Graphic 1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0100" y="2616200"/>
            <a:ext cx="279400" cy="279400"/>
          </a:xfrm>
          <a:prstGeom prst="rect">
            <a:avLst/>
          </a:prstGeom>
        </p:spPr>
      </p:pic>
      <p:pic>
        <p:nvPicPr>
          <p:cNvPr id="170" name="Graphic 1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67350" y="2616200"/>
            <a:ext cx="279400" cy="279400"/>
          </a:xfrm>
          <a:prstGeom prst="rect">
            <a:avLst/>
          </a:prstGeom>
        </p:spPr>
      </p:pic>
      <p:pic>
        <p:nvPicPr>
          <p:cNvPr id="171" name="Graphic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4600" y="2616200"/>
            <a:ext cx="279400" cy="279400"/>
          </a:xfrm>
          <a:prstGeom prst="rect">
            <a:avLst/>
          </a:prstGeom>
        </p:spPr>
      </p:pic>
      <p:pic>
        <p:nvPicPr>
          <p:cNvPr id="172" name="Graphic 1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1850" y="2616200"/>
            <a:ext cx="279400" cy="279400"/>
          </a:xfrm>
          <a:prstGeom prst="rect">
            <a:avLst/>
          </a:prstGeom>
        </p:spPr>
      </p:pic>
      <p:pic>
        <p:nvPicPr>
          <p:cNvPr id="173" name="Graphic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0100" y="3962400"/>
            <a:ext cx="279400" cy="279400"/>
          </a:xfrm>
          <a:prstGeom prst="rect">
            <a:avLst/>
          </a:prstGeom>
        </p:spPr>
      </p:pic>
      <p:pic>
        <p:nvPicPr>
          <p:cNvPr id="174" name="Graphic 1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94600" y="3962400"/>
            <a:ext cx="279400" cy="279400"/>
          </a:xfrm>
          <a:prstGeom prst="rect">
            <a:avLst/>
          </a:prstGeom>
        </p:spPr>
      </p:pic>
      <p:pic>
        <p:nvPicPr>
          <p:cNvPr id="175" name="Graphic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40100" y="5308600"/>
            <a:ext cx="279400" cy="279400"/>
          </a:xfrm>
          <a:prstGeom prst="rect">
            <a:avLst/>
          </a:prstGeom>
        </p:spPr>
      </p:pic>
      <p:pic>
        <p:nvPicPr>
          <p:cNvPr id="176" name="Graphic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76010" y="5308600"/>
            <a:ext cx="279400" cy="279400"/>
          </a:xfrm>
          <a:prstGeom prst="rect">
            <a:avLst/>
          </a:prstGeom>
        </p:spPr>
      </p:pic>
      <p:pic>
        <p:nvPicPr>
          <p:cNvPr id="177" name="Graphic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13190" y="53086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90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23774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question to the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6583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officer enters, how it is checked, and what comes back.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444500" y="1041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200" b="1" spc="10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</a:p>
        </p:txBody>
      </p:sp>
      <p:sp>
        <p:nvSpPr>
          <p:cNvPr id="101" name="Text 101"/>
          <p:cNvSpPr/>
          <p:nvPr/>
        </p:nvSpPr>
        <p:spPr>
          <a:xfrm>
            <a:off x="444500" y="1320800"/>
            <a:ext cx="2377440" cy="482600"/>
          </a:xfrm>
          <a:prstGeom prst="homePlate">
            <a:avLst>
              <a:gd name="adj" fmla="val 40000"/>
            </a:avLst>
          </a:prstGeom>
          <a:solidFill>
            <a:srgbClr val="1C2B3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</a:p>
        </p:txBody>
      </p:sp>
      <p:sp>
        <p:nvSpPr>
          <p:cNvPr id="102" name="Shape 102"/>
          <p:cNvSpPr/>
          <p:nvPr/>
        </p:nvSpPr>
        <p:spPr>
          <a:xfrm>
            <a:off x="44450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3" name="Text 103"/>
          <p:cNvSpPr txBox="1"/>
          <p:nvPr/>
        </p:nvSpPr>
        <p:spPr>
          <a:xfrm>
            <a:off x="59690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59690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and district or taluka, attach to the session.</a:t>
            </a:r>
          </a:p>
        </p:txBody>
      </p:sp>
      <p:sp>
        <p:nvSpPr>
          <p:cNvPr id="105" name="Text 105"/>
          <p:cNvSpPr/>
          <p:nvPr/>
        </p:nvSpPr>
        <p:spPr>
          <a:xfrm>
            <a:off x="2720340" y="1320800"/>
            <a:ext cx="2377440" cy="482600"/>
          </a:xfrm>
          <a:prstGeom prst="chevron">
            <a:avLst>
              <a:gd name="adj" fmla="val 40000"/>
            </a:avLst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</a:p>
        </p:txBody>
      </p:sp>
      <p:sp>
        <p:nvSpPr>
          <p:cNvPr id="106" name="Shape 106"/>
          <p:cNvSpPr/>
          <p:nvPr/>
        </p:nvSpPr>
        <p:spPr>
          <a:xfrm>
            <a:off x="272034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07" name="Text 107"/>
          <p:cNvSpPr txBox="1"/>
          <p:nvPr/>
        </p:nvSpPr>
        <p:spPr>
          <a:xfrm>
            <a:off x="287274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tables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287274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registered tables inside that scope are offered.</a:t>
            </a:r>
          </a:p>
        </p:txBody>
      </p:sp>
      <p:sp>
        <p:nvSpPr>
          <p:cNvPr id="109" name="Text 109"/>
          <p:cNvSpPr/>
          <p:nvPr/>
        </p:nvSpPr>
        <p:spPr>
          <a:xfrm>
            <a:off x="4996180" y="1320800"/>
            <a:ext cx="2377440" cy="482600"/>
          </a:xfrm>
          <a:prstGeom prst="chevron">
            <a:avLst>
              <a:gd name="adj" fmla="val 40000"/>
            </a:avLst>
          </a:prstGeom>
          <a:solidFill>
            <a:srgbClr val="2A5F7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</a:p>
        </p:txBody>
      </p:sp>
      <p:sp>
        <p:nvSpPr>
          <p:cNvPr id="110" name="Shape 110"/>
          <p:cNvSpPr/>
          <p:nvPr/>
        </p:nvSpPr>
        <p:spPr>
          <a:xfrm>
            <a:off x="499618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1" name="Text 111"/>
          <p:cNvSpPr txBox="1"/>
          <p:nvPr/>
        </p:nvSpPr>
        <p:spPr>
          <a:xfrm>
            <a:off x="514858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question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514858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match keys across sources, or a grouped report.</a:t>
            </a:r>
          </a:p>
        </p:txBody>
      </p:sp>
      <p:sp>
        <p:nvSpPr>
          <p:cNvPr id="113" name="Text 113"/>
          <p:cNvSpPr/>
          <p:nvPr/>
        </p:nvSpPr>
        <p:spPr>
          <a:xfrm>
            <a:off x="7272020" y="1320800"/>
            <a:ext cx="2377440" cy="482600"/>
          </a:xfrm>
          <a:prstGeom prst="chevron">
            <a:avLst>
              <a:gd name="adj" fmla="val 40000"/>
            </a:avLst>
          </a:prstGeom>
          <a:solidFill>
            <a:srgbClr val="336B7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</a:p>
        </p:txBody>
      </p:sp>
      <p:sp>
        <p:nvSpPr>
          <p:cNvPr id="114" name="Shape 114"/>
          <p:cNvSpPr/>
          <p:nvPr/>
        </p:nvSpPr>
        <p:spPr>
          <a:xfrm>
            <a:off x="727202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5" name="Text 115"/>
          <p:cNvSpPr txBox="1"/>
          <p:nvPr/>
        </p:nvSpPr>
        <p:spPr>
          <a:xfrm>
            <a:off x="742442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guard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42442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added. Values stay parameters. Oversized joins stop here.</a:t>
            </a:r>
          </a:p>
        </p:txBody>
      </p:sp>
      <p:sp>
        <p:nvSpPr>
          <p:cNvPr id="117" name="Text 117"/>
          <p:cNvSpPr/>
          <p:nvPr/>
        </p:nvSpPr>
        <p:spPr>
          <a:xfrm>
            <a:off x="9547860" y="1320800"/>
            <a:ext cx="2199640" cy="482600"/>
          </a:xfrm>
          <a:prstGeom prst="chevron">
            <a:avLst>
              <a:gd name="adj" fmla="val 40000"/>
            </a:avLst>
          </a:prstGeom>
          <a:solidFill>
            <a:srgbClr val="3B748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GB" sz="1200" b="1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</a:p>
        </p:txBody>
      </p:sp>
      <p:sp>
        <p:nvSpPr>
          <p:cNvPr id="118" name="Shape 118"/>
          <p:cNvSpPr/>
          <p:nvPr/>
        </p:nvSpPr>
        <p:spPr>
          <a:xfrm>
            <a:off x="9547860" y="1905000"/>
            <a:ext cx="2199640" cy="1879600"/>
          </a:xfrm>
          <a:prstGeom prst="roundRect">
            <a:avLst>
              <a:gd name="adj" fmla="val 6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19" name="Text 119"/>
          <p:cNvSpPr txBox="1"/>
          <p:nvPr/>
        </p:nvSpPr>
        <p:spPr>
          <a:xfrm>
            <a:off x="9700260" y="2489200"/>
            <a:ext cx="194564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9700260" y="28194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3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database uses read-only JDBC. Lakehouse, mixes, and approximate names use Presto.</a:t>
            </a:r>
          </a:p>
        </p:txBody>
      </p:sp>
      <p:sp>
        <p:nvSpPr>
          <p:cNvPr id="121" name="Shape 121"/>
          <p:cNvSpPr/>
          <p:nvPr/>
        </p:nvSpPr>
        <p:spPr>
          <a:xfrm flipV="1">
            <a:off x="10495280" y="3835400"/>
            <a:ext cx="304800" cy="152400"/>
          </a:xfrm>
          <a:prstGeom prst="triangle">
            <a:avLst/>
          </a:prstGeom>
          <a:solidFill>
            <a:srgbClr val="3B748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2" name="Shape 122"/>
          <p:cNvSpPr/>
          <p:nvPr/>
        </p:nvSpPr>
        <p:spPr>
          <a:xfrm>
            <a:off x="444500" y="4038600"/>
            <a:ext cx="11303000" cy="25654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3" name="Text 123"/>
          <p:cNvSpPr txBox="1"/>
          <p:nvPr/>
        </p:nvSpPr>
        <p:spPr>
          <a:xfrm>
            <a:off x="635000" y="4191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200" b="1" spc="100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1905000" y="41910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returns the answer. The application does not rebuild it from the rows on screen.</a:t>
            </a:r>
          </a:p>
        </p:txBody>
      </p:sp>
      <p:sp>
        <p:nvSpPr>
          <p:cNvPr id="125" name="Shape 125"/>
          <p:cNvSpPr/>
          <p:nvPr/>
        </p:nvSpPr>
        <p:spPr>
          <a:xfrm>
            <a:off x="635000" y="4597400"/>
            <a:ext cx="355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6" name="Shape 126"/>
          <p:cNvSpPr/>
          <p:nvPr/>
        </p:nvSpPr>
        <p:spPr>
          <a:xfrm>
            <a:off x="812800" y="4775200"/>
            <a:ext cx="508000" cy="508000"/>
          </a:xfrm>
          <a:prstGeom prst="ellips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27" name="Text 127"/>
          <p:cNvSpPr txBox="1"/>
          <p:nvPr/>
        </p:nvSpPr>
        <p:spPr>
          <a:xfrm>
            <a:off x="1473200" y="4775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812800" y="541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page, and choose columns. Past the on-screen limit, the grid is replaced by a download.</a:t>
            </a:r>
          </a:p>
        </p:txBody>
      </p:sp>
      <p:sp>
        <p:nvSpPr>
          <p:cNvPr id="129" name="Shape 129"/>
          <p:cNvSpPr/>
          <p:nvPr/>
        </p:nvSpPr>
        <p:spPr>
          <a:xfrm>
            <a:off x="4318000" y="4597400"/>
            <a:ext cx="355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0" name="Shape 130"/>
          <p:cNvSpPr/>
          <p:nvPr/>
        </p:nvSpPr>
        <p:spPr>
          <a:xfrm>
            <a:off x="4495800" y="4775200"/>
            <a:ext cx="508000" cy="508000"/>
          </a:xfrm>
          <a:prstGeom prst="ellips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1" name="Text 131"/>
          <p:cNvSpPr txBox="1"/>
          <p:nvPr/>
        </p:nvSpPr>
        <p:spPr>
          <a:xfrm>
            <a:off x="5156200" y="4775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</a:p>
        </p:txBody>
      </p:sp>
      <p:sp>
        <p:nvSpPr>
          <p:cNvPr id="132" name="Text 132"/>
          <p:cNvSpPr txBox="1"/>
          <p:nvPr/>
        </p:nvSpPr>
        <p:spPr>
          <a:xfrm>
            <a:off x="4495800" y="541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CSV, JSON, or XML. Streamed from the engine, so the file is the complete result.</a:t>
            </a:r>
          </a:p>
        </p:txBody>
      </p:sp>
      <p:sp>
        <p:nvSpPr>
          <p:cNvPr id="133" name="Shape 133"/>
          <p:cNvSpPr/>
          <p:nvPr/>
        </p:nvSpPr>
        <p:spPr>
          <a:xfrm>
            <a:off x="8001000" y="4597400"/>
            <a:ext cx="355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1E7E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4" name="Shape 134"/>
          <p:cNvSpPr/>
          <p:nvPr/>
        </p:nvSpPr>
        <p:spPr>
          <a:xfrm>
            <a:off x="8178800" y="4775200"/>
            <a:ext cx="508000" cy="508000"/>
          </a:xfrm>
          <a:prstGeom prst="ellipse">
            <a:avLst/>
          </a:prstGeom>
          <a:solidFill>
            <a:srgbClr val="1F4E5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GB" dirty="0"/>
          </a:p>
        </p:txBody>
      </p:sp>
      <p:sp>
        <p:nvSpPr>
          <p:cNvPr id="135" name="Text 135"/>
          <p:cNvSpPr txBox="1"/>
          <p:nvPr/>
        </p:nvSpPr>
        <p:spPr>
          <a:xfrm>
            <a:off x="8839200" y="4775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GB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8178800" y="541020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GB" sz="1400" dirty="0">
                <a:solidFill>
                  <a:srgbClr val="3A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and the download are written to the log. An export that cannot be audited is refused.</a:t>
            </a:r>
          </a:p>
        </p:txBody>
      </p:sp>
      <p:pic>
        <p:nvPicPr>
          <p:cNvPr id="137" name="Graphic 1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" y="2057400"/>
            <a:ext cx="355600" cy="355600"/>
          </a:xfrm>
          <a:prstGeom prst="rect">
            <a:avLst/>
          </a:prstGeom>
        </p:spPr>
      </p:pic>
      <p:pic>
        <p:nvPicPr>
          <p:cNvPr id="138" name="Graphic 1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2740" y="2057400"/>
            <a:ext cx="355600" cy="355600"/>
          </a:xfrm>
          <a:prstGeom prst="rect">
            <a:avLst/>
          </a:prstGeom>
        </p:spPr>
      </p:pic>
      <p:pic>
        <p:nvPicPr>
          <p:cNvPr id="139" name="Graphic 1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8580" y="2057400"/>
            <a:ext cx="355600" cy="355600"/>
          </a:xfrm>
          <a:prstGeom prst="rect">
            <a:avLst/>
          </a:prstGeom>
        </p:spPr>
      </p:pic>
      <p:pic>
        <p:nvPicPr>
          <p:cNvPr id="140" name="Graphic 1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4420" y="2057400"/>
            <a:ext cx="355600" cy="355600"/>
          </a:xfrm>
          <a:prstGeom prst="rect">
            <a:avLst/>
          </a:prstGeom>
        </p:spPr>
      </p:pic>
      <p:pic>
        <p:nvPicPr>
          <p:cNvPr id="141" name="Graphic 1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00260" y="2057400"/>
            <a:ext cx="355600" cy="355600"/>
          </a:xfrm>
          <a:prstGeom prst="rect">
            <a:avLst/>
          </a:prstGeom>
        </p:spPr>
      </p:pic>
      <p:pic>
        <p:nvPicPr>
          <p:cNvPr id="142" name="Graphic 1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876800"/>
            <a:ext cx="304800" cy="304800"/>
          </a:xfrm>
          <a:prstGeom prst="rect">
            <a:avLst/>
          </a:prstGeom>
        </p:spPr>
      </p:pic>
      <p:pic>
        <p:nvPicPr>
          <p:cNvPr id="143" name="Graphic 1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7400" y="4876800"/>
            <a:ext cx="304800" cy="304800"/>
          </a:xfrm>
          <a:prstGeom prst="rect">
            <a:avLst/>
          </a:prstGeom>
        </p:spPr>
      </p:pic>
      <p:pic>
        <p:nvPicPr>
          <p:cNvPr id="144" name="Graphic 1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0400" y="4876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55B0E6-D1CA-1146-BD36-5C2CB0DAFA6B}">
  <we:reference id="wa200010001" version="1.0.0.1" store="en-IN" storeType="OMEX"/>
  <we:alternateReferences>
    <we:reference id="wa200010001" version="1.0.0.1" store="WA200010001" storeType="OMEX"/>
  </we:alternateReferences>
  <we:properties>
    <we:property name="claude.fileId" value="&quot;54733d87-2eec-4087-8fa5-047902b2fa7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841</Words>
  <Application>Microsoft Macintosh PowerPoint</Application>
  <PresentationFormat>Widescreen</PresentationFormat>
  <Paragraphs>112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Advisor — for departmental users</dc:title>
  <dc:subject>Business case and features</dc:subject>
  <dc:creator>Analytics Advisor</dc:creator>
  <cp:lastModifiedBy>Vansh Khanna</cp:lastModifiedBy>
  <cp:revision>4</cp:revision>
  <dcterms:created xsi:type="dcterms:W3CDTF">2026-09-28T06:09:28Z</dcterms:created>
  <dcterms:modified xsi:type="dcterms:W3CDTF">2026-09-28T17:38:03Z</dcterms:modified>
</cp:coreProperties>
</file>