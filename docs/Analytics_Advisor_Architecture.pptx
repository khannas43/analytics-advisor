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82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1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5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3.svg"/><Relationship Id="rId10" Type="http://schemas.openxmlformats.org/officeDocument/2006/relationships/image" Target="../media/image19.svg"/><Relationship Id="rId4" Type="http://schemas.openxmlformats.org/officeDocument/2006/relationships/image" Target="../media/image2.sv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Officers stay in the browser. Matching and counting run in the database engine.</a:t>
            </a:r>
            <a:endParaRPr lang="en-US" sz="1500" dirty="0"/>
          </a:p>
        </p:txBody>
      </p:sp>
      <p:sp>
        <p:nvSpPr>
          <p:cNvPr id="100" name="Shape 100"/>
          <p:cNvSpPr/>
          <p:nvPr/>
        </p:nvSpPr>
        <p:spPr>
          <a:xfrm>
            <a:off x="444500" y="1117600"/>
            <a:ext cx="11303000" cy="1143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1" name="Shape 101"/>
          <p:cNvSpPr/>
          <p:nvPr/>
        </p:nvSpPr>
        <p:spPr>
          <a:xfrm>
            <a:off x="444500" y="1117600"/>
            <a:ext cx="2540000" cy="1143000"/>
          </a:xfrm>
          <a:prstGeom prst="roundRect">
            <a:avLst>
              <a:gd name="adj" fmla="val 8000"/>
            </a:avLst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2" name="Shape 102"/>
          <p:cNvSpPr/>
          <p:nvPr/>
        </p:nvSpPr>
        <p:spPr>
          <a:xfrm rot="5400000">
            <a:off x="2933700" y="1638300"/>
            <a:ext cx="203200" cy="101600"/>
          </a:xfrm>
          <a:prstGeom prst="triangle">
            <a:avLst/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3" name="Text 103"/>
          <p:cNvSpPr/>
          <p:nvPr/>
        </p:nvSpPr>
        <p:spPr>
          <a:xfrm>
            <a:off x="596900" y="12446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96900" y="1600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workspace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596900" y="18923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Next.js</a:t>
            </a:r>
          </a:p>
        </p:txBody>
      </p:sp>
      <p:sp>
        <p:nvSpPr>
          <p:cNvPr id="106" name="Shape 106"/>
          <p:cNvSpPr/>
          <p:nvPr/>
        </p:nvSpPr>
        <p:spPr>
          <a:xfrm flipV="1">
            <a:off x="1600200" y="22733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7" name="Shape 107"/>
          <p:cNvSpPr/>
          <p:nvPr/>
        </p:nvSpPr>
        <p:spPr>
          <a:xfrm>
            <a:off x="32131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8" name="Text 108"/>
          <p:cNvSpPr txBox="1"/>
          <p:nvPr/>
        </p:nvSpPr>
        <p:spPr>
          <a:xfrm>
            <a:off x="32893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</a:p>
        </p:txBody>
      </p:sp>
      <p:sp>
        <p:nvSpPr>
          <p:cNvPr id="109" name="Shape 109"/>
          <p:cNvSpPr/>
          <p:nvPr/>
        </p:nvSpPr>
        <p:spPr>
          <a:xfrm>
            <a:off x="49149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0" name="Text 110"/>
          <p:cNvSpPr txBox="1"/>
          <p:nvPr/>
        </p:nvSpPr>
        <p:spPr>
          <a:xfrm>
            <a:off x="49911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tables</a:t>
            </a:r>
          </a:p>
        </p:txBody>
      </p:sp>
      <p:sp>
        <p:nvSpPr>
          <p:cNvPr id="111" name="Shape 111"/>
          <p:cNvSpPr/>
          <p:nvPr/>
        </p:nvSpPr>
        <p:spPr>
          <a:xfrm>
            <a:off x="66167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2" name="Text 112"/>
          <p:cNvSpPr txBox="1"/>
          <p:nvPr/>
        </p:nvSpPr>
        <p:spPr>
          <a:xfrm>
            <a:off x="66929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</a:t>
            </a:r>
          </a:p>
        </p:txBody>
      </p:sp>
      <p:sp>
        <p:nvSpPr>
          <p:cNvPr id="113" name="Shape 113"/>
          <p:cNvSpPr/>
          <p:nvPr/>
        </p:nvSpPr>
        <p:spPr>
          <a:xfrm>
            <a:off x="83185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4" name="Text 114"/>
          <p:cNvSpPr txBox="1"/>
          <p:nvPr/>
        </p:nvSpPr>
        <p:spPr>
          <a:xfrm>
            <a:off x="83947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</a:p>
        </p:txBody>
      </p:sp>
      <p:sp>
        <p:nvSpPr>
          <p:cNvPr id="115" name="Shape 115"/>
          <p:cNvSpPr/>
          <p:nvPr/>
        </p:nvSpPr>
        <p:spPr>
          <a:xfrm>
            <a:off x="100203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6" name="Text 116"/>
          <p:cNvSpPr txBox="1"/>
          <p:nvPr/>
        </p:nvSpPr>
        <p:spPr>
          <a:xfrm>
            <a:off x="100965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</a:p>
        </p:txBody>
      </p:sp>
      <p:sp>
        <p:nvSpPr>
          <p:cNvPr id="117" name="Shape 117"/>
          <p:cNvSpPr/>
          <p:nvPr/>
        </p:nvSpPr>
        <p:spPr>
          <a:xfrm>
            <a:off x="444500" y="2387600"/>
            <a:ext cx="11303000" cy="12192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8" name="Shape 118"/>
          <p:cNvSpPr/>
          <p:nvPr/>
        </p:nvSpPr>
        <p:spPr>
          <a:xfrm>
            <a:off x="444500" y="2387600"/>
            <a:ext cx="2540000" cy="1219200"/>
          </a:xfrm>
          <a:prstGeom prst="roundRect">
            <a:avLst>
              <a:gd name="adj" fmla="val 8000"/>
            </a:avLst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9" name="Shape 119"/>
          <p:cNvSpPr/>
          <p:nvPr/>
        </p:nvSpPr>
        <p:spPr>
          <a:xfrm rot="5400000">
            <a:off x="2933700" y="2946400"/>
            <a:ext cx="203200" cy="101600"/>
          </a:xfrm>
          <a:prstGeom prst="triangl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0" name="Text 120"/>
          <p:cNvSpPr/>
          <p:nvPr/>
        </p:nvSpPr>
        <p:spPr>
          <a:xfrm>
            <a:off x="596900" y="25146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96900" y="2870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96900" y="31623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·  Spring Boot</a:t>
            </a:r>
          </a:p>
        </p:txBody>
      </p:sp>
      <p:sp>
        <p:nvSpPr>
          <p:cNvPr id="123" name="Shape 123"/>
          <p:cNvSpPr/>
          <p:nvPr/>
        </p:nvSpPr>
        <p:spPr>
          <a:xfrm flipV="1">
            <a:off x="1600200" y="36195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4" name="Shape 124"/>
          <p:cNvSpPr/>
          <p:nvPr/>
        </p:nvSpPr>
        <p:spPr>
          <a:xfrm>
            <a:off x="321310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5" name="Text 125"/>
          <p:cNvSpPr txBox="1"/>
          <p:nvPr/>
        </p:nvSpPr>
        <p:spPr>
          <a:xfrm>
            <a:off x="372110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334010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session</a:t>
            </a:r>
          </a:p>
        </p:txBody>
      </p:sp>
      <p:sp>
        <p:nvSpPr>
          <p:cNvPr id="127" name="Shape 127"/>
          <p:cNvSpPr/>
          <p:nvPr/>
        </p:nvSpPr>
        <p:spPr>
          <a:xfrm>
            <a:off x="534035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8" name="Text 128"/>
          <p:cNvSpPr txBox="1"/>
          <p:nvPr/>
        </p:nvSpPr>
        <p:spPr>
          <a:xfrm>
            <a:off x="584835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46735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and taluka on every request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746760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1" name="Text 131"/>
          <p:cNvSpPr txBox="1"/>
          <p:nvPr/>
        </p:nvSpPr>
        <p:spPr>
          <a:xfrm>
            <a:off x="797560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759460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become parameterised SQL</a:t>
            </a:r>
          </a:p>
        </p:txBody>
      </p:sp>
      <p:sp>
        <p:nvSpPr>
          <p:cNvPr id="133" name="Shape 133"/>
          <p:cNvSpPr/>
          <p:nvPr/>
        </p:nvSpPr>
        <p:spPr>
          <a:xfrm>
            <a:off x="959485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4" name="Text 134"/>
          <p:cNvSpPr txBox="1"/>
          <p:nvPr/>
        </p:nvSpPr>
        <p:spPr>
          <a:xfrm>
            <a:off x="1010285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972185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downloads, and access changes</a:t>
            </a:r>
          </a:p>
        </p:txBody>
      </p:sp>
      <p:sp>
        <p:nvSpPr>
          <p:cNvPr id="136" name="Shape 136"/>
          <p:cNvSpPr/>
          <p:nvPr/>
        </p:nvSpPr>
        <p:spPr>
          <a:xfrm>
            <a:off x="444500" y="3733800"/>
            <a:ext cx="11303000" cy="12192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7" name="Shape 137"/>
          <p:cNvSpPr/>
          <p:nvPr/>
        </p:nvSpPr>
        <p:spPr>
          <a:xfrm>
            <a:off x="444500" y="3733800"/>
            <a:ext cx="2540000" cy="1219200"/>
          </a:xfrm>
          <a:prstGeom prst="roundRect">
            <a:avLst>
              <a:gd name="adj" fmla="val 8000"/>
            </a:avLst>
          </a:prstGeom>
          <a:solidFill>
            <a:srgbClr val="2D657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8" name="Shape 138"/>
          <p:cNvSpPr/>
          <p:nvPr/>
        </p:nvSpPr>
        <p:spPr>
          <a:xfrm rot="5400000">
            <a:off x="2933700" y="4292600"/>
            <a:ext cx="203200" cy="101600"/>
          </a:xfrm>
          <a:prstGeom prst="triangle">
            <a:avLst/>
          </a:prstGeom>
          <a:solidFill>
            <a:srgbClr val="2D657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9" name="Text 139"/>
          <p:cNvSpPr/>
          <p:nvPr/>
        </p:nvSpPr>
        <p:spPr>
          <a:xfrm>
            <a:off x="596900" y="3860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2D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96900" y="42164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596900" y="45085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per question, before it runs</a:t>
            </a:r>
          </a:p>
        </p:txBody>
      </p:sp>
      <p:sp>
        <p:nvSpPr>
          <p:cNvPr id="142" name="Shape 142"/>
          <p:cNvSpPr/>
          <p:nvPr/>
        </p:nvSpPr>
        <p:spPr>
          <a:xfrm flipV="1">
            <a:off x="1600200" y="49657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3" name="Shape 143"/>
          <p:cNvSpPr/>
          <p:nvPr/>
        </p:nvSpPr>
        <p:spPr>
          <a:xfrm>
            <a:off x="3213100" y="3835400"/>
            <a:ext cx="4127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4" name="Text 144"/>
          <p:cNvSpPr txBox="1"/>
          <p:nvPr/>
        </p:nvSpPr>
        <p:spPr>
          <a:xfrm>
            <a:off x="3721100" y="3962400"/>
            <a:ext cx="3492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database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3340100" y="4318000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filters use the saved read-only JDBC connection. The SQL is adapted to that database.</a:t>
            </a:r>
          </a:p>
        </p:txBody>
      </p:sp>
      <p:sp>
        <p:nvSpPr>
          <p:cNvPr id="146" name="Shape 146"/>
          <p:cNvSpPr/>
          <p:nvPr/>
        </p:nvSpPr>
        <p:spPr>
          <a:xfrm>
            <a:off x="7467600" y="3835400"/>
            <a:ext cx="4127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7" name="Text 147"/>
          <p:cNvSpPr txBox="1"/>
          <p:nvPr/>
        </p:nvSpPr>
        <p:spPr>
          <a:xfrm>
            <a:off x="7975600" y="3962400"/>
            <a:ext cx="3492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Lakehouse, mixed sources, or approximate names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94600" y="4318000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PrestoDB. Refused when a mix has no catalog alias, or when the estimated result is too large.</a:t>
            </a:r>
          </a:p>
        </p:txBody>
      </p:sp>
      <p:sp>
        <p:nvSpPr>
          <p:cNvPr id="149" name="Shape 149"/>
          <p:cNvSpPr/>
          <p:nvPr/>
        </p:nvSpPr>
        <p:spPr>
          <a:xfrm>
            <a:off x="444500" y="5080000"/>
            <a:ext cx="11303000" cy="1524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0" name="Shape 150"/>
          <p:cNvSpPr/>
          <p:nvPr/>
        </p:nvSpPr>
        <p:spPr>
          <a:xfrm>
            <a:off x="444500" y="5080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9E4A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1" name="Shape 151"/>
          <p:cNvSpPr/>
          <p:nvPr/>
        </p:nvSpPr>
        <p:spPr>
          <a:xfrm rot="5400000">
            <a:off x="2933700" y="5791200"/>
            <a:ext cx="203200" cy="101600"/>
          </a:xfrm>
          <a:prstGeom prst="triangle">
            <a:avLst/>
          </a:prstGeom>
          <a:solidFill>
            <a:srgbClr val="9E4A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2" name="Text 152"/>
          <p:cNvSpPr/>
          <p:nvPr/>
        </p:nvSpPr>
        <p:spPr>
          <a:xfrm>
            <a:off x="596900" y="52070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9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96900" y="5562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96900" y="58547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query registered tables, not connection strings</a:t>
            </a:r>
          </a:p>
        </p:txBody>
      </p:sp>
      <p:sp>
        <p:nvSpPr>
          <p:cNvPr id="155" name="Shape 155"/>
          <p:cNvSpPr/>
          <p:nvPr/>
        </p:nvSpPr>
        <p:spPr>
          <a:xfrm>
            <a:off x="3213100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6" name="Text 156"/>
          <p:cNvSpPr txBox="1"/>
          <p:nvPr/>
        </p:nvSpPr>
        <p:spPr>
          <a:xfrm>
            <a:off x="3721100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3340100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by default, DB2 supported. Users, scopes, saved questions, audit, and the table registry.</a:t>
            </a:r>
          </a:p>
        </p:txBody>
      </p:sp>
      <p:sp>
        <p:nvSpPr>
          <p:cNvPr id="158" name="Shape 158"/>
          <p:cNvSpPr/>
          <p:nvPr/>
        </p:nvSpPr>
        <p:spPr>
          <a:xfrm>
            <a:off x="6049433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9" name="Text 159"/>
          <p:cNvSpPr txBox="1"/>
          <p:nvPr/>
        </p:nvSpPr>
        <p:spPr>
          <a:xfrm>
            <a:off x="6557433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176433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tables through Presto. Joins, filters, and counts stay in the engine.</a:t>
            </a:r>
          </a:p>
        </p:txBody>
      </p:sp>
      <p:sp>
        <p:nvSpPr>
          <p:cNvPr id="161" name="Shape 161"/>
          <p:cNvSpPr/>
          <p:nvPr/>
        </p:nvSpPr>
        <p:spPr>
          <a:xfrm>
            <a:off x="8885767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62" name="Text 162"/>
          <p:cNvSpPr txBox="1"/>
          <p:nvPr/>
        </p:nvSpPr>
        <p:spPr>
          <a:xfrm>
            <a:off x="9393767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databases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012767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DB2, MySQL, MariaDB, SQL Server, and Oracle. Read-only. Password stays on the server.</a:t>
            </a:r>
          </a:p>
        </p:txBody>
      </p:sp>
      <p:pic>
        <p:nvPicPr>
          <p:cNvPr id="164" name="Graphic 1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700" y="1346200"/>
            <a:ext cx="355600" cy="355600"/>
          </a:xfrm>
          <a:prstGeom prst="rect">
            <a:avLst/>
          </a:prstGeom>
        </p:spPr>
      </p:pic>
      <p:pic>
        <p:nvPicPr>
          <p:cNvPr id="165" name="Graphic 1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1346200"/>
            <a:ext cx="355600" cy="355600"/>
          </a:xfrm>
          <a:prstGeom prst="rect">
            <a:avLst/>
          </a:prstGeom>
        </p:spPr>
      </p:pic>
      <p:pic>
        <p:nvPicPr>
          <p:cNvPr id="166" name="Graphic 1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6300" y="1346200"/>
            <a:ext cx="355600" cy="355600"/>
          </a:xfrm>
          <a:prstGeom prst="rect">
            <a:avLst/>
          </a:prstGeom>
        </p:spPr>
      </p:pic>
      <p:pic>
        <p:nvPicPr>
          <p:cNvPr id="167" name="Graphic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8100" y="1346200"/>
            <a:ext cx="355600" cy="355600"/>
          </a:xfrm>
          <a:prstGeom prst="rect">
            <a:avLst/>
          </a:prstGeom>
        </p:spPr>
      </p:pic>
      <p:pic>
        <p:nvPicPr>
          <p:cNvPr id="168" name="Graphic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9900" y="1346200"/>
            <a:ext cx="355600" cy="355600"/>
          </a:xfrm>
          <a:prstGeom prst="rect">
            <a:avLst/>
          </a:prstGeom>
        </p:spPr>
      </p:pic>
      <p:pic>
        <p:nvPicPr>
          <p:cNvPr id="169" name="Graphic 1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0100" y="2616200"/>
            <a:ext cx="279400" cy="279400"/>
          </a:xfrm>
          <a:prstGeom prst="rect">
            <a:avLst/>
          </a:prstGeom>
        </p:spPr>
      </p:pic>
      <p:pic>
        <p:nvPicPr>
          <p:cNvPr id="170" name="Graphic 1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7350" y="2616200"/>
            <a:ext cx="279400" cy="279400"/>
          </a:xfrm>
          <a:prstGeom prst="rect">
            <a:avLst/>
          </a:prstGeom>
        </p:spPr>
      </p:pic>
      <p:pic>
        <p:nvPicPr>
          <p:cNvPr id="171" name="Graphic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4600" y="2616200"/>
            <a:ext cx="279400" cy="279400"/>
          </a:xfrm>
          <a:prstGeom prst="rect">
            <a:avLst/>
          </a:prstGeom>
        </p:spPr>
      </p:pic>
      <p:pic>
        <p:nvPicPr>
          <p:cNvPr id="172" name="Graphic 1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1850" y="2616200"/>
            <a:ext cx="279400" cy="279400"/>
          </a:xfrm>
          <a:prstGeom prst="rect">
            <a:avLst/>
          </a:prstGeom>
        </p:spPr>
      </p:pic>
      <p:pic>
        <p:nvPicPr>
          <p:cNvPr id="173" name="Graphic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0100" y="3962400"/>
            <a:ext cx="279400" cy="279400"/>
          </a:xfrm>
          <a:prstGeom prst="rect">
            <a:avLst/>
          </a:prstGeom>
        </p:spPr>
      </p:pic>
      <p:pic>
        <p:nvPicPr>
          <p:cNvPr id="174" name="Graphic 1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94600" y="3962400"/>
            <a:ext cx="279400" cy="279400"/>
          </a:xfrm>
          <a:prstGeom prst="rect">
            <a:avLst/>
          </a:prstGeom>
        </p:spPr>
      </p:pic>
      <p:pic>
        <p:nvPicPr>
          <p:cNvPr id="175" name="Graphic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0100" y="5308600"/>
            <a:ext cx="279400" cy="279400"/>
          </a:xfrm>
          <a:prstGeom prst="rect">
            <a:avLst/>
          </a:prstGeom>
        </p:spPr>
      </p:pic>
      <p:pic>
        <p:nvPicPr>
          <p:cNvPr id="176" name="Graphic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76010" y="5308600"/>
            <a:ext cx="279400" cy="279400"/>
          </a:xfrm>
          <a:prstGeom prst="rect">
            <a:avLst/>
          </a:prstGeom>
        </p:spPr>
      </p:pic>
      <p:pic>
        <p:nvPicPr>
          <p:cNvPr id="177" name="Graphic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13190" y="53086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9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question to the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583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officer enters, how it is checked, and what comes back.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444500" y="1041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200" b="1" spc="1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</a:p>
        </p:txBody>
      </p:sp>
      <p:sp>
        <p:nvSpPr>
          <p:cNvPr id="101" name="Text 101"/>
          <p:cNvSpPr/>
          <p:nvPr/>
        </p:nvSpPr>
        <p:spPr>
          <a:xfrm>
            <a:off x="444500" y="1320800"/>
            <a:ext cx="2377440" cy="482600"/>
          </a:xfrm>
          <a:prstGeom prst="homePlate">
            <a:avLst>
              <a:gd name="adj" fmla="val 40000"/>
            </a:avLst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</a:p>
        </p:txBody>
      </p:sp>
      <p:sp>
        <p:nvSpPr>
          <p:cNvPr id="102" name="Shape 102"/>
          <p:cNvSpPr/>
          <p:nvPr/>
        </p:nvSpPr>
        <p:spPr>
          <a:xfrm>
            <a:off x="44450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3" name="Text 103"/>
          <p:cNvSpPr txBox="1"/>
          <p:nvPr/>
        </p:nvSpPr>
        <p:spPr>
          <a:xfrm>
            <a:off x="59690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9690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and district or taluka, attach to the session.</a:t>
            </a:r>
          </a:p>
        </p:txBody>
      </p:sp>
      <p:sp>
        <p:nvSpPr>
          <p:cNvPr id="105" name="Text 105"/>
          <p:cNvSpPr/>
          <p:nvPr/>
        </p:nvSpPr>
        <p:spPr>
          <a:xfrm>
            <a:off x="272034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</a:p>
        </p:txBody>
      </p:sp>
      <p:sp>
        <p:nvSpPr>
          <p:cNvPr id="106" name="Shape 106"/>
          <p:cNvSpPr/>
          <p:nvPr/>
        </p:nvSpPr>
        <p:spPr>
          <a:xfrm>
            <a:off x="272034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7" name="Text 107"/>
          <p:cNvSpPr txBox="1"/>
          <p:nvPr/>
        </p:nvSpPr>
        <p:spPr>
          <a:xfrm>
            <a:off x="287274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tables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287274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registered tables inside that scope are offered.</a:t>
            </a:r>
          </a:p>
        </p:txBody>
      </p:sp>
      <p:sp>
        <p:nvSpPr>
          <p:cNvPr id="109" name="Text 109"/>
          <p:cNvSpPr/>
          <p:nvPr/>
        </p:nvSpPr>
        <p:spPr>
          <a:xfrm>
            <a:off x="499618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2A5F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</a:p>
        </p:txBody>
      </p:sp>
      <p:sp>
        <p:nvSpPr>
          <p:cNvPr id="110" name="Shape 110"/>
          <p:cNvSpPr/>
          <p:nvPr/>
        </p:nvSpPr>
        <p:spPr>
          <a:xfrm>
            <a:off x="499618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1" name="Text 111"/>
          <p:cNvSpPr txBox="1"/>
          <p:nvPr/>
        </p:nvSpPr>
        <p:spPr>
          <a:xfrm>
            <a:off x="514858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question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14858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match keys across sources, or a grouped report.</a:t>
            </a:r>
          </a:p>
        </p:txBody>
      </p:sp>
      <p:sp>
        <p:nvSpPr>
          <p:cNvPr id="113" name="Text 113"/>
          <p:cNvSpPr/>
          <p:nvPr/>
        </p:nvSpPr>
        <p:spPr>
          <a:xfrm>
            <a:off x="727202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336B7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</a:p>
        </p:txBody>
      </p:sp>
      <p:sp>
        <p:nvSpPr>
          <p:cNvPr id="114" name="Shape 114"/>
          <p:cNvSpPr/>
          <p:nvPr/>
        </p:nvSpPr>
        <p:spPr>
          <a:xfrm>
            <a:off x="727202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5" name="Text 115"/>
          <p:cNvSpPr txBox="1"/>
          <p:nvPr/>
        </p:nvSpPr>
        <p:spPr>
          <a:xfrm>
            <a:off x="742442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guard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42442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added. Values stay parameters. Oversized joins stop here.</a:t>
            </a:r>
          </a:p>
        </p:txBody>
      </p:sp>
      <p:sp>
        <p:nvSpPr>
          <p:cNvPr id="117" name="Text 117"/>
          <p:cNvSpPr/>
          <p:nvPr/>
        </p:nvSpPr>
        <p:spPr>
          <a:xfrm>
            <a:off x="9547860" y="1320800"/>
            <a:ext cx="2199640" cy="482600"/>
          </a:xfrm>
          <a:prstGeom prst="chevron">
            <a:avLst>
              <a:gd name="adj" fmla="val 40000"/>
            </a:avLst>
          </a:prstGeom>
          <a:solidFill>
            <a:srgbClr val="3B748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</a:p>
        </p:txBody>
      </p:sp>
      <p:sp>
        <p:nvSpPr>
          <p:cNvPr id="118" name="Shape 118"/>
          <p:cNvSpPr/>
          <p:nvPr/>
        </p:nvSpPr>
        <p:spPr>
          <a:xfrm>
            <a:off x="954786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9" name="Text 119"/>
          <p:cNvSpPr txBox="1"/>
          <p:nvPr/>
        </p:nvSpPr>
        <p:spPr>
          <a:xfrm>
            <a:off x="970026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970026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uses read-only JDBC. Lakehouse, mixes, and approximate names use Presto.</a:t>
            </a:r>
          </a:p>
        </p:txBody>
      </p:sp>
      <p:sp>
        <p:nvSpPr>
          <p:cNvPr id="121" name="Shape 121"/>
          <p:cNvSpPr/>
          <p:nvPr/>
        </p:nvSpPr>
        <p:spPr>
          <a:xfrm flipV="1">
            <a:off x="10495280" y="3835400"/>
            <a:ext cx="304800" cy="152400"/>
          </a:xfrm>
          <a:prstGeom prst="triangle">
            <a:avLst/>
          </a:prstGeom>
          <a:solidFill>
            <a:srgbClr val="3B748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2" name="Shape 122"/>
          <p:cNvSpPr/>
          <p:nvPr/>
        </p:nvSpPr>
        <p:spPr>
          <a:xfrm>
            <a:off x="444500" y="4038600"/>
            <a:ext cx="11303000" cy="2565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3" name="Text 123"/>
          <p:cNvSpPr txBox="1"/>
          <p:nvPr/>
        </p:nvSpPr>
        <p:spPr>
          <a:xfrm>
            <a:off x="635000" y="4191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200" b="1" spc="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1905000" y="41910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returns the answer. The application does not rebuild it from the rows on screen.</a:t>
            </a:r>
          </a:p>
        </p:txBody>
      </p:sp>
      <p:sp>
        <p:nvSpPr>
          <p:cNvPr id="125" name="Shape 125"/>
          <p:cNvSpPr/>
          <p:nvPr/>
        </p:nvSpPr>
        <p:spPr>
          <a:xfrm>
            <a:off x="635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6" name="Shape 126"/>
          <p:cNvSpPr/>
          <p:nvPr/>
        </p:nvSpPr>
        <p:spPr>
          <a:xfrm>
            <a:off x="812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7" name="Text 127"/>
          <p:cNvSpPr txBox="1"/>
          <p:nvPr/>
        </p:nvSpPr>
        <p:spPr>
          <a:xfrm>
            <a:off x="1473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12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page, and choose columns. Past the on-screen limit, the grid is replaced by a download.</a:t>
            </a:r>
          </a:p>
        </p:txBody>
      </p:sp>
      <p:sp>
        <p:nvSpPr>
          <p:cNvPr id="129" name="Shape 129"/>
          <p:cNvSpPr/>
          <p:nvPr/>
        </p:nvSpPr>
        <p:spPr>
          <a:xfrm>
            <a:off x="4318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0" name="Shape 130"/>
          <p:cNvSpPr/>
          <p:nvPr/>
        </p:nvSpPr>
        <p:spPr>
          <a:xfrm>
            <a:off x="4495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1" name="Text 131"/>
          <p:cNvSpPr txBox="1"/>
          <p:nvPr/>
        </p:nvSpPr>
        <p:spPr>
          <a:xfrm>
            <a:off x="5156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495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CSV, JSON, or XML. Streamed from the engine, so the file is the complete result.</a:t>
            </a:r>
          </a:p>
        </p:txBody>
      </p:sp>
      <p:sp>
        <p:nvSpPr>
          <p:cNvPr id="133" name="Shape 133"/>
          <p:cNvSpPr/>
          <p:nvPr/>
        </p:nvSpPr>
        <p:spPr>
          <a:xfrm>
            <a:off x="8001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4" name="Shape 134"/>
          <p:cNvSpPr/>
          <p:nvPr/>
        </p:nvSpPr>
        <p:spPr>
          <a:xfrm>
            <a:off x="8178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5" name="Text 135"/>
          <p:cNvSpPr txBox="1"/>
          <p:nvPr/>
        </p:nvSpPr>
        <p:spPr>
          <a:xfrm>
            <a:off x="8839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8178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and the download are written to the log. An export that cannot be audited is refused.</a:t>
            </a:r>
          </a:p>
        </p:txBody>
      </p:sp>
      <p:pic>
        <p:nvPicPr>
          <p:cNvPr id="137" name="Graphic 1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" y="2057400"/>
            <a:ext cx="355600" cy="355600"/>
          </a:xfrm>
          <a:prstGeom prst="rect">
            <a:avLst/>
          </a:prstGeom>
        </p:spPr>
      </p:pic>
      <p:pic>
        <p:nvPicPr>
          <p:cNvPr id="138" name="Graphic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2740" y="2057400"/>
            <a:ext cx="355600" cy="355600"/>
          </a:xfrm>
          <a:prstGeom prst="rect">
            <a:avLst/>
          </a:prstGeom>
        </p:spPr>
      </p:pic>
      <p:pic>
        <p:nvPicPr>
          <p:cNvPr id="139" name="Graphic 1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580" y="2057400"/>
            <a:ext cx="355600" cy="355600"/>
          </a:xfrm>
          <a:prstGeom prst="rect">
            <a:avLst/>
          </a:prstGeom>
        </p:spPr>
      </p:pic>
      <p:pic>
        <p:nvPicPr>
          <p:cNvPr id="140" name="Graphic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4420" y="2057400"/>
            <a:ext cx="355600" cy="355600"/>
          </a:xfrm>
          <a:prstGeom prst="rect">
            <a:avLst/>
          </a:prstGeom>
        </p:spPr>
      </p:pic>
      <p:pic>
        <p:nvPicPr>
          <p:cNvPr id="141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0260" y="2057400"/>
            <a:ext cx="355600" cy="355600"/>
          </a:xfrm>
          <a:prstGeom prst="rect">
            <a:avLst/>
          </a:prstGeom>
        </p:spPr>
      </p:pic>
      <p:pic>
        <p:nvPicPr>
          <p:cNvPr id="142" name="Graphic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876800"/>
            <a:ext cx="304800" cy="304800"/>
          </a:xfrm>
          <a:prstGeom prst="rect">
            <a:avLst/>
          </a:prstGeom>
        </p:spPr>
      </p:pic>
      <p:pic>
        <p:nvPicPr>
          <p:cNvPr id="143" name="Graphic 1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7400" y="4876800"/>
            <a:ext cx="304800" cy="304800"/>
          </a:xfrm>
          <a:prstGeom prst="rect">
            <a:avLst/>
          </a:prstGeom>
        </p:spPr>
      </p:pic>
      <p:pic>
        <p:nvPicPr>
          <p:cNvPr id="144" name="Graphic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0400" y="4876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0CD92F-9A2F-164C-B522-155F02D8CFD0}">
  <we:reference id="wa200010001" version="1.0.0.1" store="en-IN" storeType="OMEX"/>
  <we:alternateReferences>
    <we:reference id="wa200010001" version="1.0.0.1" store="WA200010001" storeType="OMEX"/>
  </we:alternateReferences>
  <we:properties>
    <we:property name="claude.fileId" value="&quot;d1faa915-0e33-4778-882c-86240c785b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398</Words>
  <Application>Microsoft Macintosh PowerPoint</Application>
  <PresentationFormat>Widescreen</PresentationFormat>
  <Paragraphs>65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Advisor — architecture</dc:title>
  <dc:subject>Technical architecture and request workflow</dc:subject>
  <dc:creator>Analytics Advisor</dc:creator>
  <cp:lastModifiedBy>Vansh Khanna</cp:lastModifiedBy>
  <cp:revision>2</cp:revision>
  <dcterms:created xsi:type="dcterms:W3CDTF">2026-09-28T17:15:55Z</dcterms:created>
  <dcterms:modified xsi:type="dcterms:W3CDTF">2026-09-28T17:29:27Z</dcterms:modified>
</cp:coreProperties>
</file>